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5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notesSlides/notesSlide13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notesSlides/notesSlide14.xml" ContentType="application/vnd.openxmlformats-officedocument.presentationml.notesSlide+xml"/>
  <Override PartName="/ppt/ink/ink12.xml" ContentType="application/inkml+xml"/>
  <Override PartName="/ppt/notesSlides/notesSlide15.xml" ContentType="application/vnd.openxmlformats-officedocument.presentationml.notesSlide+xml"/>
  <Override PartName="/ppt/ink/ink13.xml" ContentType="application/inkml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62" r:id="rId15"/>
    <p:sldId id="263" r:id="rId16"/>
    <p:sldId id="264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8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09:37:49.4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09:40:13.2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29 24575,'0'-8'0,"4"-3"0,10 4 0,2 4-8191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09:40:13.9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24575,'4'0'0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09:40:17.0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09:44:31.2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19 24575,'0'-4'0,"-8"-1"0,1-1 0,11 2 0,4 5 0,0 3-8191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09:46:42.8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09:46:46.1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09:48:32.9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0 24575,'-4'0'0,"-6"0"0,0 0-8191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09:49:52.7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24575,'4'0'0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09:50:22.0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 24575,'0'-4'0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09:51:01.6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24575,'0'4'0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09:52:39.291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19 0 24575,'-8'0'0,"-3"0"-8191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8T09:53:22.749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7177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context of hospital analytics and Power BI’s role in operational decision-making.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Power BI as an integrated analytics platform enabling data storytelling.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Power BI’s power for operational decision-making in healthcare.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Contrast Excel’s individual analytical use with Power BI’s scalable, enterprise-level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Emphasize this end-to-end process for real-world BI 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Link components to roles in hospital and business data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9408F-B665-4AAA-1861-3EDA9789E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7758CA-2B9A-E375-DBF5-1B7824CCFE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6CEE4B-5A41-62FF-DD86-E8A2746D1A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Link components to roles in hospital and business data management.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E3D3F-AFD3-674F-8AE5-F48A8266E6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128588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94778-CE5C-3E6D-3DE7-D29C28F5A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02929C-677A-7162-46D2-C1622FC822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391EB0-C05B-0B40-BE8A-8AA8BB3655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Link components to roles in hospital and business data management.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870D0-AEE3-CF20-273D-76DACB6F83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99021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A7A13-CED2-CAFC-CB0D-760E51727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0F1090-55C4-0777-1EF9-9063A55271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A28658-DBF0-B31C-5212-235A11C408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Link components to roles in hospital and business data management.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6CE753-2D15-FE13-3302-81F896EAAA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160510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88BB4-54C8-CC1E-454D-91039A9F6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AF7846-4CD2-15F8-3742-326BABC129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78ECDC-F228-065E-833F-AD69DD4114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Link components to roles in hospital and business data management.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9CDCA-45AD-CB00-3952-0B7329EE49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833553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964B1-0BCA-A7E2-B7DA-0E61E3DE6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A683D6-55A9-08C3-CBCB-991867DE97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6BE36F-4007-277B-C510-78AB220384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Link components to roles in hospital and business data management.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F32034-F366-B9A3-00ED-E9E26B884E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031128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CF93D-EC37-4602-6566-CCA9E9450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F404A1-C59F-9CA5-6E91-659C0818B6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FF35FA-D473-F9C8-2A80-1419322675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Link components to roles in hospital and business data management.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A2843E-E179-4A16-5363-438746E689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6554180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92EF1-A336-BE5B-1952-E7BAFFFE2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6A8037-6575-ABEF-F29A-D5D39C04AC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596847-A4F2-02C2-88E9-9BB1062E37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Link components to roles in hospital and business data management.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41356-4899-4EED-8D04-A160D3A7CB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24866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Demonstrate how Power BI reveals performance trends and operational insights.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DAX as Power BI’s formula engine for KPIs.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Power BI data modeling uses keys to relate multiple tables for holistic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Demonstrate how Power BI enhances collaborative data-driven culture.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benefits and invite questions from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customXml" Target="../ink/ink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.xml"/><Relationship Id="rId5" Type="http://schemas.openxmlformats.org/officeDocument/2006/relationships/image" Target="../media/image1.png"/><Relationship Id="rId4" Type="http://schemas.openxmlformats.org/officeDocument/2006/relationships/customXml" Target="../ink/ink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.xml"/><Relationship Id="rId5" Type="http://schemas.openxmlformats.org/officeDocument/2006/relationships/image" Target="../media/image10.png"/><Relationship Id="rId4" Type="http://schemas.openxmlformats.org/officeDocument/2006/relationships/customXml" Target="../ink/ink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.xml"/><Relationship Id="rId5" Type="http://schemas.openxmlformats.org/officeDocument/2006/relationships/image" Target="../media/image3.png"/><Relationship Id="rId4" Type="http://schemas.openxmlformats.org/officeDocument/2006/relationships/customXml" Target="../ink/ink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An Operational Analytics Dashboard for Hospital Performance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r>
              <a:rPr dirty="0"/>
              <a:t>By Dr. Purnendu Shekhar Pandey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What is Power BI?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212" y="1519646"/>
            <a:ext cx="8934994" cy="3318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sz="2800" dirty="0"/>
              <a:t>• Microsoft’s Business Intelligence and </a:t>
            </a:r>
            <a:endParaRPr lang="en-US" sz="2800" dirty="0"/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lang="en-IN" sz="2800" dirty="0"/>
              <a:t>   </a:t>
            </a:r>
            <a:r>
              <a:rPr sz="2800" dirty="0"/>
              <a:t>data visualization tool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sz="2800" dirty="0"/>
              <a:t>• Connects, transforms, and visualizes data </a:t>
            </a:r>
            <a:endParaRPr lang="en-US" sz="2800" dirty="0"/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lang="en-IN" sz="2800" dirty="0"/>
              <a:t>   </a:t>
            </a:r>
            <a:r>
              <a:rPr sz="2800" dirty="0"/>
              <a:t>from multiple sources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sz="2800" dirty="0"/>
              <a:t>• Helps hospitals and businesses </a:t>
            </a:r>
            <a:endParaRPr lang="en-US" sz="2800" dirty="0"/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lang="en-IN" sz="2800" dirty="0"/>
              <a:t>   </a:t>
            </a:r>
            <a:r>
              <a:rPr sz="2800" dirty="0"/>
              <a:t>make informed, data-driven decisions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C9D298C-C88B-6860-1B7F-48303E3F63EA}"/>
                  </a:ext>
                </a:extLst>
              </p14:cNvPr>
              <p14:cNvContentPartPr/>
              <p14:nvPr/>
            </p14:nvContentPartPr>
            <p14:xfrm>
              <a:off x="3901166" y="2220223"/>
              <a:ext cx="36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C9D298C-C88B-6860-1B7F-48303E3F63E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95046" y="2214103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581396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Why Power BI for Management?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0926" y="1371600"/>
            <a:ext cx="8475058" cy="3190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sz="2400" dirty="0"/>
              <a:t>• Seamless integration with Excel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sz="2400" dirty="0"/>
              <a:t>• DAX enables analytical calculations (</a:t>
            </a:r>
            <a:r>
              <a:rPr lang="en-US" sz="2400" dirty="0"/>
              <a:t>% of growth</a:t>
            </a:r>
            <a:r>
              <a:rPr sz="2400" dirty="0"/>
              <a:t>, avg. cost)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sz="2400" dirty="0"/>
              <a:t>• Power Query helps cl</a:t>
            </a:r>
            <a:r>
              <a:rPr lang="en-IN" sz="2400" dirty="0" err="1"/>
              <a:t>ean</a:t>
            </a:r>
            <a:r>
              <a:rPr lang="en-IN" sz="2400" dirty="0"/>
              <a:t> </a:t>
            </a:r>
            <a:r>
              <a:rPr sz="2400" dirty="0"/>
              <a:t>data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sz="2400" dirty="0"/>
              <a:t>• Interactive dashboards for department-level insights</a:t>
            </a:r>
            <a:r>
              <a:rPr lang="en-US" sz="2400" dirty="0"/>
              <a:t> </a:t>
            </a:r>
            <a:r>
              <a:rPr lang="en-US" sz="2400" dirty="0" err="1"/>
              <a:t>e.g</a:t>
            </a:r>
            <a:r>
              <a:rPr lang="en-US" sz="2400" dirty="0"/>
              <a:t> for         Doctors and operations team we can create two different dashboards.</a:t>
            </a:r>
            <a:endParaRPr sz="2400" dirty="0"/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sz="2400" dirty="0"/>
              <a:t>• Secure, cloud-based sharing for management teams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EC6AB72-4560-F8DA-2AB7-E48F3C6B9C4F}"/>
              </a:ext>
            </a:extLst>
          </p:cNvPr>
          <p:cNvGrpSpPr/>
          <p:nvPr/>
        </p:nvGrpSpPr>
        <p:grpSpPr>
          <a:xfrm>
            <a:off x="4258286" y="1696423"/>
            <a:ext cx="3224160" cy="271800"/>
            <a:chOff x="4258286" y="1696423"/>
            <a:chExt cx="3224160" cy="27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CEB8C3B-7C3E-E3B7-BD71-4BA15447CAAC}"/>
                    </a:ext>
                  </a:extLst>
                </p14:cNvPr>
                <p14:cNvContentPartPr/>
                <p14:nvPr/>
              </p14:nvContentPartPr>
              <p14:xfrm>
                <a:off x="4258286" y="1696423"/>
                <a:ext cx="12600" cy="10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CEB8C3B-7C3E-E3B7-BD71-4BA15447CAA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252166" y="1690303"/>
                  <a:ext cx="248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CBD2627-E8EB-161C-5BCB-E18C5A25CACD}"/>
                    </a:ext>
                  </a:extLst>
                </p14:cNvPr>
                <p14:cNvContentPartPr/>
                <p14:nvPr/>
              </p14:nvContentPartPr>
              <p14:xfrm>
                <a:off x="4754726" y="1872103"/>
                <a:ext cx="1800" cy="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CBD2627-E8EB-161C-5BCB-E18C5A25CAC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748606" y="1865983"/>
                  <a:ext cx="140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BE383FD-3718-B4BE-1410-8AAFE61BFEF0}"/>
                    </a:ext>
                  </a:extLst>
                </p14:cNvPr>
                <p14:cNvContentPartPr/>
                <p14:nvPr/>
              </p14:nvContentPartPr>
              <p14:xfrm>
                <a:off x="7480646" y="1967863"/>
                <a:ext cx="1800" cy="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BE383FD-3718-B4BE-1410-8AAFE61BFEF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474526" y="1961743"/>
                  <a:ext cx="14040" cy="126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Excel vs Power BI – Key Differences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8E84D3A-1801-67D5-436D-6BDC674706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028395"/>
              </p:ext>
            </p:extLst>
          </p:nvPr>
        </p:nvGraphicFramePr>
        <p:xfrm>
          <a:off x="174171" y="1304110"/>
          <a:ext cx="8769531" cy="5181266"/>
        </p:xfrm>
        <a:graphic>
          <a:graphicData uri="http://schemas.openxmlformats.org/drawingml/2006/table">
            <a:tbl>
              <a:tblPr/>
              <a:tblGrid>
                <a:gridCol w="2923177">
                  <a:extLst>
                    <a:ext uri="{9D8B030D-6E8A-4147-A177-3AD203B41FA5}">
                      <a16:colId xmlns:a16="http://schemas.microsoft.com/office/drawing/2014/main" val="361349476"/>
                    </a:ext>
                  </a:extLst>
                </a:gridCol>
                <a:gridCol w="2923177">
                  <a:extLst>
                    <a:ext uri="{9D8B030D-6E8A-4147-A177-3AD203B41FA5}">
                      <a16:colId xmlns:a16="http://schemas.microsoft.com/office/drawing/2014/main" val="3054208919"/>
                    </a:ext>
                  </a:extLst>
                </a:gridCol>
                <a:gridCol w="2923177">
                  <a:extLst>
                    <a:ext uri="{9D8B030D-6E8A-4147-A177-3AD203B41FA5}">
                      <a16:colId xmlns:a16="http://schemas.microsoft.com/office/drawing/2014/main" val="1995865540"/>
                    </a:ext>
                  </a:extLst>
                </a:gridCol>
              </a:tblGrid>
              <a:tr h="3481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Feature</a:t>
                      </a:r>
                      <a:endParaRPr lang="en-IN" sz="2000" dirty="0">
                        <a:solidFill>
                          <a:schemeClr val="tx1"/>
                        </a:solidFill>
                      </a:endParaRP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Excel</a:t>
                      </a:r>
                      <a:endParaRPr lang="en-IN" sz="2000" dirty="0">
                        <a:solidFill>
                          <a:schemeClr val="tx1"/>
                        </a:solidFill>
                      </a:endParaRP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solidFill>
                            <a:schemeClr val="tx1"/>
                          </a:solidFill>
                        </a:rPr>
                        <a:t>Power BI</a:t>
                      </a:r>
                      <a:endParaRPr lang="en-IN" sz="2000" dirty="0">
                        <a:solidFill>
                          <a:schemeClr val="tx1"/>
                        </a:solidFill>
                      </a:endParaRP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5169986"/>
                  </a:ext>
                </a:extLst>
              </a:tr>
              <a:tr h="6092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Purpose</a:t>
                      </a:r>
                      <a:endParaRPr lang="en-IN" sz="200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Data entry &amp; static reports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Dynamic analytics &amp; interactive dashboards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9406604"/>
                  </a:ext>
                </a:extLst>
              </a:tr>
              <a:tr h="6092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Data Handling</a:t>
                      </a:r>
                      <a:endParaRPr lang="en-IN" sz="200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Handles up to ~1 million rows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Handles millions of rows efficiently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1424555"/>
                  </a:ext>
                </a:extLst>
              </a:tr>
              <a:tr h="6092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Visualization</a:t>
                      </a:r>
                      <a:endParaRPr lang="en-IN" sz="20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Basic charts and graphs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Advanced, interactive visuals and slicers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5340560"/>
                  </a:ext>
                </a:extLst>
              </a:tr>
              <a:tr h="870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Collaboration</a:t>
                      </a:r>
                      <a:endParaRPr lang="en-IN" sz="200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File-based sharing (email, drive)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Cloud-based, real-time sharing via Power BI Service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953212"/>
                  </a:ext>
                </a:extLst>
              </a:tr>
              <a:tr h="6092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Automation</a:t>
                      </a:r>
                      <a:endParaRPr lang="en-IN" sz="200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Manual updates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Scheduled data refresh and auto-updates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0950138"/>
                  </a:ext>
                </a:extLst>
              </a:tr>
              <a:tr h="870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Language / Engine</a:t>
                      </a:r>
                      <a:endParaRPr lang="en-IN" sz="20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Formulas and pivot tables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DAX (Data Analysis Expressions) and Power Query (ETL + analytics)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767509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Power BI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0150" y="1371600"/>
            <a:ext cx="8715804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sz="2800" dirty="0"/>
              <a:t>1️⃣ Connect – Import hospital data from Excel, SQL, or APIs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sz="2800" dirty="0"/>
              <a:t>2️⃣ Transform – Clean and prepare using Power Query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sz="2800" dirty="0"/>
              <a:t>3️⃣ Visualize – Build KPI dashboards for </a:t>
            </a:r>
            <a:r>
              <a:rPr lang="en-US" sz="2800" dirty="0"/>
              <a:t>various</a:t>
            </a:r>
            <a:r>
              <a:rPr sz="2800" dirty="0"/>
              <a:t> operations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sz="2800" dirty="0"/>
              <a:t>4️⃣ Share – Publish insights to Power BI Service or Teams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809A86E6-C153-B8E5-B557-5EBE4D7D22DF}"/>
                  </a:ext>
                </a:extLst>
              </p14:cNvPr>
              <p14:cNvContentPartPr/>
              <p14:nvPr/>
            </p14:nvContentPartPr>
            <p14:xfrm>
              <a:off x="3878486" y="3389503"/>
              <a:ext cx="7560" cy="720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809A86E6-C153-B8E5-B557-5EBE4D7D22D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72366" y="3383383"/>
                <a:ext cx="19800" cy="19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Components of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425" y="1545771"/>
            <a:ext cx="8904781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sz="2800" dirty="0"/>
              <a:t>• Power BI Desktop – Build &amp; analyze dashboards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sz="2800" dirty="0"/>
              <a:t>• Power BI Service – Share reports in the cloud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sz="2800" dirty="0"/>
              <a:t>• Power BI Mobile – Monitor metrics on-the-go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sz="2800" dirty="0"/>
              <a:t>• Power BI Gateway – Secure data refresh for hospital 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46EAB-4F9B-6F09-8FBF-03627EA0F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FFAFCE-BDCF-85B2-1811-4807640E2D55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E1BC9E-00F7-3AFC-D7CA-08696D2C7F53}"/>
              </a:ext>
            </a:extLst>
          </p:cNvPr>
          <p:cNvSpPr txBox="1"/>
          <p:nvPr/>
        </p:nvSpPr>
        <p:spPr>
          <a:xfrm>
            <a:off x="0" y="-17874"/>
            <a:ext cx="71192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lang="en-IN" dirty="0"/>
              <a:t>Power BI Interface Overview</a:t>
            </a:r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545A981-055F-AF7B-58C6-65CAC941EF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6278275"/>
              </p:ext>
            </p:extLst>
          </p:nvPr>
        </p:nvGraphicFramePr>
        <p:xfrm>
          <a:off x="87087" y="748936"/>
          <a:ext cx="8969826" cy="5834550"/>
        </p:xfrm>
        <a:graphic>
          <a:graphicData uri="http://schemas.openxmlformats.org/drawingml/2006/table">
            <a:tbl>
              <a:tblPr/>
              <a:tblGrid>
                <a:gridCol w="2989942">
                  <a:extLst>
                    <a:ext uri="{9D8B030D-6E8A-4147-A177-3AD203B41FA5}">
                      <a16:colId xmlns:a16="http://schemas.microsoft.com/office/drawing/2014/main" val="2322758525"/>
                    </a:ext>
                  </a:extLst>
                </a:gridCol>
                <a:gridCol w="2989942">
                  <a:extLst>
                    <a:ext uri="{9D8B030D-6E8A-4147-A177-3AD203B41FA5}">
                      <a16:colId xmlns:a16="http://schemas.microsoft.com/office/drawing/2014/main" val="4060436251"/>
                    </a:ext>
                  </a:extLst>
                </a:gridCol>
                <a:gridCol w="2989942">
                  <a:extLst>
                    <a:ext uri="{9D8B030D-6E8A-4147-A177-3AD203B41FA5}">
                      <a16:colId xmlns:a16="http://schemas.microsoft.com/office/drawing/2014/main" val="1108544054"/>
                    </a:ext>
                  </a:extLst>
                </a:gridCol>
              </a:tblGrid>
              <a:tr h="6133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Interface Component</a:t>
                      </a:r>
                      <a:endParaRPr lang="en-IN" sz="1800"/>
                    </a:p>
                  </a:txBody>
                  <a:tcPr marL="69630" marR="69630" marT="34815" marB="348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Description</a:t>
                      </a:r>
                      <a:endParaRPr lang="en-IN" sz="1800"/>
                    </a:p>
                  </a:txBody>
                  <a:tcPr marL="69630" marR="69630" marT="34815" marB="348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Purpose in Analytics Workflow</a:t>
                      </a:r>
                      <a:endParaRPr lang="en-IN" sz="1800"/>
                    </a:p>
                  </a:txBody>
                  <a:tcPr marL="69630" marR="69630" marT="34815" marB="348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5263342"/>
                  </a:ext>
                </a:extLst>
              </a:tr>
              <a:tr h="1401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1. Power Query Editor</a:t>
                      </a:r>
                      <a:endParaRPr lang="en-US" sz="1800" dirty="0"/>
                    </a:p>
                  </a:txBody>
                  <a:tcPr marL="69630" marR="69630" marT="34815" marB="348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Opens when we click </a:t>
                      </a:r>
                      <a:r>
                        <a:rPr lang="en-US" sz="1800" b="1" dirty="0"/>
                        <a:t>“Transform Data”</a:t>
                      </a:r>
                      <a:r>
                        <a:rPr lang="en-US" sz="1800" dirty="0"/>
                        <a:t>. It’s used for </a:t>
                      </a:r>
                      <a:r>
                        <a:rPr lang="en-US" sz="1800" b="1" dirty="0"/>
                        <a:t>data cleaning, shaping, and preparation</a:t>
                      </a:r>
                      <a:r>
                        <a:rPr lang="en-US" sz="1800" dirty="0"/>
                        <a:t> before visualization.</a:t>
                      </a:r>
                    </a:p>
                  </a:txBody>
                  <a:tcPr marL="69630" marR="69630" marT="34815" marB="348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- Remove duplicates, nulls, and errors- Merge or append tables- Create calculated columns- Apply filters and transformations</a:t>
                      </a:r>
                    </a:p>
                  </a:txBody>
                  <a:tcPr marL="69630" marR="69630" marT="34815" marB="348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348391"/>
                  </a:ext>
                </a:extLst>
              </a:tr>
              <a:tr h="11390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2. Report View</a:t>
                      </a:r>
                      <a:endParaRPr lang="en-IN" sz="1800" dirty="0"/>
                    </a:p>
                  </a:txBody>
                  <a:tcPr marL="69630" marR="69630" marT="34815" marB="348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The main canvas where we </a:t>
                      </a:r>
                      <a:r>
                        <a:rPr lang="en-US" sz="1800" b="1" dirty="0"/>
                        <a:t>build dashboards and reports</a:t>
                      </a:r>
                      <a:r>
                        <a:rPr lang="en-US" sz="1800" dirty="0"/>
                        <a:t> using charts, cards, slicers, and visuals.</a:t>
                      </a:r>
                    </a:p>
                  </a:txBody>
                  <a:tcPr marL="69630" marR="69630" marT="34815" marB="348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- Design interactive dashboards- Add filters, visuals, and KPIs- Format layouts and colors</a:t>
                      </a:r>
                    </a:p>
                  </a:txBody>
                  <a:tcPr marL="69630" marR="69630" marT="34815" marB="348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6809960"/>
                  </a:ext>
                </a:extLst>
              </a:tr>
              <a:tr h="11390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3. Data (Tabular) View</a:t>
                      </a:r>
                      <a:endParaRPr lang="en-IN" sz="1800" dirty="0"/>
                    </a:p>
                  </a:txBody>
                  <a:tcPr marL="69630" marR="69630" marT="34815" marB="348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Displays your </a:t>
                      </a:r>
                      <a:r>
                        <a:rPr lang="en-US" sz="1800" b="1"/>
                        <a:t>data tables in tabular format</a:t>
                      </a:r>
                      <a:r>
                        <a:rPr lang="en-US" sz="1800"/>
                        <a:t> after transformation — similar to Excel sheets.</a:t>
                      </a:r>
                    </a:p>
                  </a:txBody>
                  <a:tcPr marL="69630" marR="69630" marT="34815" marB="348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- Inspect loaded data- Verify calculations- Create new columns or measures</a:t>
                      </a:r>
                    </a:p>
                  </a:txBody>
                  <a:tcPr marL="69630" marR="69630" marT="34815" marB="348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6540688"/>
                  </a:ext>
                </a:extLst>
              </a:tr>
              <a:tr h="1401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4. Model View</a:t>
                      </a:r>
                      <a:endParaRPr lang="en-IN" sz="1800" dirty="0"/>
                    </a:p>
                  </a:txBody>
                  <a:tcPr marL="69630" marR="69630" marT="34815" marB="348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Shows </a:t>
                      </a:r>
                      <a:r>
                        <a:rPr lang="en-US" sz="1800" b="1"/>
                        <a:t>relationships between tables</a:t>
                      </a:r>
                      <a:r>
                        <a:rPr lang="en-US" sz="1800"/>
                        <a:t> — visual diagram connecting them using </a:t>
                      </a:r>
                      <a:r>
                        <a:rPr lang="en-US" sz="1800" b="1"/>
                        <a:t>Primary Keys and Foreign Keys</a:t>
                      </a:r>
                      <a:r>
                        <a:rPr lang="en-US" sz="1800"/>
                        <a:t>.</a:t>
                      </a:r>
                    </a:p>
                  </a:txBody>
                  <a:tcPr marL="69630" marR="69630" marT="34815" marB="348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- Establish relationships- Define data model structure- Enable multi-table analytics and DAX calculations</a:t>
                      </a:r>
                    </a:p>
                  </a:txBody>
                  <a:tcPr marL="69630" marR="69630" marT="34815" marB="348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9994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5174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49576-BB25-B817-506E-ADF5A6553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644E25-D107-F73F-AAB1-83058E0C9483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F2FAE6-75F9-6DA3-EC0C-15AC4B173FB4}"/>
              </a:ext>
            </a:extLst>
          </p:cNvPr>
          <p:cNvSpPr txBox="1"/>
          <p:nvPr/>
        </p:nvSpPr>
        <p:spPr>
          <a:xfrm>
            <a:off x="0" y="-17874"/>
            <a:ext cx="71192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lang="en-US" sz="3200" b="1" dirty="0"/>
              <a:t>Power Query Editor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AB6433-11BE-BF05-EAD7-4D1350D0D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2777"/>
            <a:ext cx="9144000" cy="573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415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4AFE5-7ACA-CDBA-B498-8D89D1E56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863D36-2EF4-85E7-D067-7153B5701B80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99214A-ECD6-C9C0-E40F-129EA6F17625}"/>
              </a:ext>
            </a:extLst>
          </p:cNvPr>
          <p:cNvSpPr txBox="1"/>
          <p:nvPr/>
        </p:nvSpPr>
        <p:spPr>
          <a:xfrm>
            <a:off x="0" y="-17874"/>
            <a:ext cx="71192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lang="en-IN" sz="3200" b="1" dirty="0"/>
              <a:t>Report View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52C6E1-0995-0515-14F0-13D8FB00C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84069"/>
            <a:ext cx="9144000" cy="5721531"/>
          </a:xfrm>
          <a:prstGeom prst="rect">
            <a:avLst/>
          </a:prstGeom>
        </p:spPr>
      </p:pic>
      <p:grpSp>
        <p:nvGrpSpPr>
          <p:cNvPr id="48" name="Group 47">
            <a:extLst>
              <a:ext uri="{FF2B5EF4-FFF2-40B4-BE49-F238E27FC236}">
                <a16:creationId xmlns:a16="http://schemas.microsoft.com/office/drawing/2014/main" id="{ACB405DC-7870-8D86-0801-2FE4F4A790A7}"/>
              </a:ext>
            </a:extLst>
          </p:cNvPr>
          <p:cNvGrpSpPr/>
          <p:nvPr/>
        </p:nvGrpSpPr>
        <p:grpSpPr>
          <a:xfrm>
            <a:off x="6330806" y="374143"/>
            <a:ext cx="1594080" cy="227160"/>
            <a:chOff x="6330806" y="374143"/>
            <a:chExt cx="1594080" cy="22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4762B99-C349-211A-D3BE-9F7CECF61476}"/>
                    </a:ext>
                  </a:extLst>
                </p14:cNvPr>
                <p14:cNvContentPartPr/>
                <p14:nvPr/>
              </p14:nvContentPartPr>
              <p14:xfrm>
                <a:off x="6330806" y="600943"/>
                <a:ext cx="360" cy="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4762B99-C349-211A-D3BE-9F7CECF6147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324686" y="59482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0E3A600-3840-EF2D-C773-C931998A1BDB}"/>
                    </a:ext>
                  </a:extLst>
                </p14:cNvPr>
                <p14:cNvContentPartPr/>
                <p14:nvPr/>
              </p14:nvContentPartPr>
              <p14:xfrm>
                <a:off x="7924526" y="374143"/>
                <a:ext cx="360" cy="3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0E3A600-3840-EF2D-C773-C931998A1BD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918406" y="36802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36068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AD9CD-E3BD-4EE0-8724-5F4CE9F99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5BCB4B-C99C-F4EA-4AE7-AD52A588A438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D36985-0D2F-57D7-04B0-0FEB55CA1B77}"/>
              </a:ext>
            </a:extLst>
          </p:cNvPr>
          <p:cNvSpPr txBox="1"/>
          <p:nvPr/>
        </p:nvSpPr>
        <p:spPr>
          <a:xfrm>
            <a:off x="0" y="-17874"/>
            <a:ext cx="71192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lang="en-IN" sz="3200" b="1" dirty="0"/>
              <a:t>Data (Tabular) View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55EC7E-CA41-2F5C-7D6B-C4F56AC85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9536"/>
            <a:ext cx="9144000" cy="5628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803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DF16F-1C1F-F10E-7F21-E9277C90C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8FEDF7-7FC3-D6B0-1EDE-636AE46F6F35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741266-CC43-7E7C-7965-687EA2B4042F}"/>
              </a:ext>
            </a:extLst>
          </p:cNvPr>
          <p:cNvSpPr txBox="1"/>
          <p:nvPr/>
        </p:nvSpPr>
        <p:spPr>
          <a:xfrm>
            <a:off x="0" y="-17874"/>
            <a:ext cx="71192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lang="en-IN" sz="3200" b="1" dirty="0"/>
              <a:t>Data (Tabular) View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AFE81E-C94B-6FD3-4286-E3F08B535E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66" y="1120074"/>
            <a:ext cx="9144000" cy="5712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121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F9DF1-BB3E-945C-87C4-AE4340806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20280F6-9741-EC0E-F80D-74D99F08E6CA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85EB72-5C2F-910C-94A3-607167527767}"/>
              </a:ext>
            </a:extLst>
          </p:cNvPr>
          <p:cNvSpPr txBox="1"/>
          <p:nvPr/>
        </p:nvSpPr>
        <p:spPr>
          <a:xfrm>
            <a:off x="0" y="-17874"/>
            <a:ext cx="71192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lang="en-IN" sz="3200" b="1" dirty="0"/>
              <a:t>Model View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7957E6-7AE7-8D48-5CD0-4839A708E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657" y="108099"/>
            <a:ext cx="6444343" cy="664180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FF13495-4D90-6C7A-2FC2-FBCE2C9E8808}"/>
                  </a:ext>
                </a:extLst>
              </p14:cNvPr>
              <p14:cNvContentPartPr/>
              <p14:nvPr/>
            </p14:nvContentPartPr>
            <p14:xfrm>
              <a:off x="7419446" y="3474463"/>
              <a:ext cx="9000" cy="3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FF13495-4D90-6C7A-2FC2-FBCE2C9E880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13326" y="3468343"/>
                <a:ext cx="2124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FA7FB8E5-9890-D818-2BBC-1B3DADA24527}"/>
                  </a:ext>
                </a:extLst>
              </p14:cNvPr>
              <p14:cNvContentPartPr/>
              <p14:nvPr/>
            </p14:nvContentPartPr>
            <p14:xfrm>
              <a:off x="1410686" y="5329543"/>
              <a:ext cx="1800" cy="36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FA7FB8E5-9890-D818-2BBC-1B3DADA2452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04566" y="5323423"/>
                <a:ext cx="1404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1117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B8CDE-1CB6-4149-4756-46772FB1B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3B96507-B607-5E4A-341E-5F33B70FABEB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B637F4-CB12-692A-D659-EB1EC450D23D}"/>
              </a:ext>
            </a:extLst>
          </p:cNvPr>
          <p:cNvSpPr txBox="1"/>
          <p:nvPr/>
        </p:nvSpPr>
        <p:spPr>
          <a:xfrm>
            <a:off x="0" y="-17874"/>
            <a:ext cx="71192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lang="en-IN" sz="3200" b="1" dirty="0"/>
              <a:t>Model View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1BAB97-1EE0-0D9B-F4B4-40AA29E03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30378"/>
            <a:ext cx="9144000" cy="398170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EACA68C1-B62D-71A0-20A6-8BCB91605530}"/>
                  </a:ext>
                </a:extLst>
              </p14:cNvPr>
              <p14:cNvContentPartPr/>
              <p14:nvPr/>
            </p14:nvContentPartPr>
            <p14:xfrm>
              <a:off x="8455886" y="4126063"/>
              <a:ext cx="360" cy="180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EACA68C1-B62D-71A0-20A6-8BCB9160553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49766" y="4119943"/>
                <a:ext cx="1260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E8D895EC-8925-391F-57BA-C7C41341261F}"/>
                  </a:ext>
                </a:extLst>
              </p14:cNvPr>
              <p14:cNvContentPartPr/>
              <p14:nvPr/>
            </p14:nvContentPartPr>
            <p14:xfrm>
              <a:off x="2925926" y="409423"/>
              <a:ext cx="360" cy="180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E8D895EC-8925-391F-57BA-C7C41341261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19806" y="403303"/>
                <a:ext cx="12600" cy="1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925910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69966" y="365760"/>
            <a:ext cx="84168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sz="2800" dirty="0"/>
              <a:t>Hands-on Example – Hospital Operational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9966" y="1371600"/>
            <a:ext cx="8725988" cy="499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sz="2800" dirty="0"/>
              <a:t>Dataset: Hospital Departments &amp; Patient Treatments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endParaRPr sz="2800" dirty="0"/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sz="2800" dirty="0"/>
              <a:t>Visuals: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sz="2800" dirty="0"/>
              <a:t>• KPI: Average Treatment Cost (₹)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sz="2800" dirty="0"/>
              <a:t>• KPI: Average Recovery Score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sz="2800" dirty="0"/>
              <a:t>• Bar Chart: Patients by Department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sz="2800" dirty="0"/>
              <a:t>• Pie Chart: Gender Distribution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sz="2800" dirty="0"/>
              <a:t>• Line Chart: Recovery Score by Department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sz="2800" dirty="0"/>
              <a:t>• Slicer: Treatment Type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8B07AD91-FCF5-A843-ABE9-8199A7F8767F}"/>
                  </a:ext>
                </a:extLst>
              </p14:cNvPr>
              <p14:cNvContentPartPr/>
              <p14:nvPr/>
            </p14:nvContentPartPr>
            <p14:xfrm>
              <a:off x="6733286" y="2743303"/>
              <a:ext cx="7200" cy="36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8B07AD91-FCF5-A843-ABE9-8199A7F8767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27166" y="2737183"/>
                <a:ext cx="19440" cy="1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04503"/>
            <a:ext cx="72150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sz="3600" dirty="0"/>
              <a:t>DAX for Hospital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" y="1123872"/>
            <a:ext cx="8869680" cy="5729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sz="2800" dirty="0"/>
              <a:t>Example Calculations:</a:t>
            </a: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sz="2800" dirty="0"/>
              <a:t>  </a:t>
            </a:r>
            <a:r>
              <a:rPr sz="2800" dirty="0" err="1"/>
              <a:t>Average_Cost</a:t>
            </a:r>
            <a:r>
              <a:rPr sz="2800" dirty="0"/>
              <a:t> = AVERAGE(</a:t>
            </a:r>
            <a:r>
              <a:rPr lang="en-US" sz="2800" dirty="0" err="1"/>
              <a:t>h</a:t>
            </a:r>
            <a:r>
              <a:rPr sz="2800" dirty="0" err="1"/>
              <a:t>ospital</a:t>
            </a:r>
            <a:r>
              <a:rPr lang="en-US" sz="2800" dirty="0" err="1"/>
              <a:t>_data</a:t>
            </a:r>
            <a:r>
              <a:rPr sz="2800" dirty="0"/>
              <a:t>[</a:t>
            </a:r>
            <a:r>
              <a:rPr sz="2800" dirty="0" err="1"/>
              <a:t>Treatment_Cost</a:t>
            </a:r>
            <a:r>
              <a:rPr sz="2800" dirty="0"/>
              <a:t>])</a:t>
            </a: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sz="2800" dirty="0"/>
              <a:t>  </a:t>
            </a:r>
            <a:r>
              <a:rPr sz="2800" dirty="0" err="1"/>
              <a:t>Average_Stay</a:t>
            </a:r>
            <a:r>
              <a:rPr sz="2800" dirty="0"/>
              <a:t> = AVERAGE(</a:t>
            </a:r>
            <a:r>
              <a:rPr lang="en-US" sz="2800" dirty="0" err="1"/>
              <a:t>hospital_data</a:t>
            </a:r>
            <a:r>
              <a:rPr sz="2800" dirty="0"/>
              <a:t>[</a:t>
            </a:r>
            <a:r>
              <a:rPr sz="2800" dirty="0" err="1"/>
              <a:t>Hospital_Stay</a:t>
            </a:r>
            <a:r>
              <a:rPr sz="2800" dirty="0"/>
              <a:t>(Days)])</a:t>
            </a:r>
          </a:p>
          <a:p>
            <a:pPr marL="457200" indent="-4572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sz="2800" dirty="0"/>
              <a:t>  </a:t>
            </a:r>
            <a:r>
              <a:rPr sz="2800" dirty="0" err="1"/>
              <a:t>Recovery_Index</a:t>
            </a:r>
            <a:r>
              <a:rPr sz="2800" dirty="0"/>
              <a:t> = AVERAGE(</a:t>
            </a:r>
            <a:r>
              <a:rPr lang="en-US" sz="2800" dirty="0" err="1"/>
              <a:t>hospital_data</a:t>
            </a:r>
            <a:r>
              <a:rPr sz="2800" dirty="0"/>
              <a:t>[</a:t>
            </a:r>
            <a:r>
              <a:rPr sz="2800" dirty="0" err="1"/>
              <a:t>Recovery_Score</a:t>
            </a:r>
            <a:r>
              <a:rPr sz="2800" dirty="0"/>
              <a:t>])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endParaRPr sz="2800" dirty="0"/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sz="2800" dirty="0"/>
              <a:t>Applications: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sz="2800" dirty="0"/>
              <a:t>• Compare department efficiency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sz="2800" dirty="0"/>
              <a:t>• Measure cost-effectiveness per treatment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FA69600-C95C-5BA4-F0C9-FFF9C2898291}"/>
                  </a:ext>
                </a:extLst>
              </p14:cNvPr>
              <p14:cNvContentPartPr/>
              <p14:nvPr/>
            </p14:nvContentPartPr>
            <p14:xfrm>
              <a:off x="5564366" y="4066663"/>
              <a:ext cx="360" cy="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FA69600-C95C-5BA4-F0C9-FFF9C289829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58246" y="4060543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-1" y="104150"/>
            <a:ext cx="882178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rPr sz="2800" dirty="0"/>
              <a:t>Understanding Primary Key and Foreign Key </a:t>
            </a:r>
            <a:endParaRPr lang="en-US" sz="2800" dirty="0"/>
          </a:p>
          <a:p>
            <a:pPr algn="ctr">
              <a:defRPr sz="3200" b="1">
                <a:solidFill>
                  <a:srgbClr val="003366"/>
                </a:solidFill>
              </a:defRPr>
            </a:pPr>
            <a:r>
              <a:rPr sz="2800" dirty="0"/>
              <a:t>in Power BI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549" y="1067917"/>
            <a:ext cx="8434251" cy="3944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sz="2400" dirty="0"/>
              <a:t>• Primary Key: Unique identifier in a table 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sz="2400" dirty="0"/>
              <a:t>• Foreign Key: Field linking to another table 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endParaRPr sz="2400" dirty="0"/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sz="2400" dirty="0"/>
              <a:t>Purpose: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sz="2400" dirty="0"/>
              <a:t>• Establish relationships between tables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sz="2400" dirty="0"/>
              <a:t>• Enable joined analysis (e.g., patient data + department data)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sz="2400" dirty="0"/>
              <a:t>• Maintain referential integrity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endParaRPr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Publishing and Sharing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0926" y="1371600"/>
            <a:ext cx="8538754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sz="2800" dirty="0"/>
              <a:t>• Publish dashboards to Power BI Service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sz="2800" dirty="0"/>
              <a:t>• Share with department heads or stakeholders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sz="2800" dirty="0"/>
              <a:t>• Schedule automatic refresh for live metrics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sz="2800" dirty="0"/>
              <a:t>• Discuss insights directly via Microsoft Teams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Conclusion &amp;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7642" y="1371600"/>
            <a:ext cx="8612038" cy="2698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sz="2400" dirty="0"/>
              <a:t>• Power BI transforms data into actionable insights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sz="2400" dirty="0"/>
              <a:t>• Enhances transparency, efficiency, and strategic decisions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sz="2400" dirty="0"/>
              <a:t>• Encourages analytical thinking across departments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endParaRPr sz="2400" dirty="0"/>
          </a:p>
          <a:p>
            <a:pPr algn="ctr"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sz="4000" dirty="0">
                <a:solidFill>
                  <a:srgbClr val="FF0000"/>
                </a:solidFill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1516</TotalTime>
  <Words>910</Words>
  <Application>Microsoft Office PowerPoint</Application>
  <PresentationFormat>On-screen Show (4:3)</PresentationFormat>
  <Paragraphs>127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An Operational Analytics Dashboard for Hospital Performance Management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IIHMR</dc:creator>
  <cp:keywords/>
  <dc:description>generated using python-pptx</dc:description>
  <cp:lastModifiedBy>Purnendu Shekhar Pandey</cp:lastModifiedBy>
  <cp:revision>28</cp:revision>
  <dcterms:created xsi:type="dcterms:W3CDTF">2013-01-27T09:14:16Z</dcterms:created>
  <dcterms:modified xsi:type="dcterms:W3CDTF">2025-12-09T05:50:21Z</dcterms:modified>
  <cp:category/>
</cp:coreProperties>
</file>